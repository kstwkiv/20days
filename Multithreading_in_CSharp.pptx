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54864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>
            <a:off x="8549640" y="137160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0" y="219456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8641080" y="301752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0" y="384048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0" y="59436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141732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224028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06324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388620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CONCURRENCY &amp; PARALLELISM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33172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Multithreading in C#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responsive, scalable applications with threads, tasks, and async/await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251960"/>
            <a:ext cx="502920" cy="4114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for .NET developers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755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21214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threads are and why they matter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25880" y="31729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 Class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353872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and managing raw threads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258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Pool &amp; Tasks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95604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efficient concurrency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309360" y="173736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086600" y="1755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/ await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086600" y="21214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programming made simple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09360" y="315468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86600" y="31729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86600" y="353872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Locks, race conditions &amp; thread safety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9360" y="4572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0866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&amp; Best Practices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86600" y="495604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Avoiding deadlocks and common mistakes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Multithreading?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thread is the smallest unit of execution within a process.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Multithreading runs multiple threads concurrently inside a single process, sharing the same memory space.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.NET application starts with one thread — the main thread — and can spawn more as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92240" y="1600200"/>
            <a:ext cx="5120640" cy="3794760"/>
          </a:xfrm>
          <a:prstGeom prst="roundRect">
            <a:avLst>
              <a:gd name="adj" fmla="val 2410"/>
            </a:avLst>
          </a:prstGeom>
          <a:solidFill>
            <a:srgbClr val="F6F7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19659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0" y="19659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Thread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0" y="2468880"/>
            <a:ext cx="0" cy="320040"/>
          </a:xfrm>
          <a:prstGeom prst="line">
            <a:avLst/>
          </a:prstGeom>
          <a:noFill/>
          <a:ln w="19050">
            <a:solidFill>
              <a:srgbClr val="6B71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2788920"/>
            <a:ext cx="2926080" cy="0"/>
          </a:xfrm>
          <a:prstGeom prst="line">
            <a:avLst/>
          </a:prstGeom>
          <a:noFill/>
          <a:ln w="19050">
            <a:solidFill>
              <a:srgbClr val="6B719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2788920"/>
            <a:ext cx="0" cy="365760"/>
          </a:xfrm>
          <a:prstGeom prst="line">
            <a:avLst/>
          </a:prstGeom>
          <a:noFill/>
          <a:ln w="19050">
            <a:solidFill>
              <a:srgbClr val="6B719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15468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154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69680" y="2788920"/>
            <a:ext cx="0" cy="365760"/>
          </a:xfrm>
          <a:prstGeom prst="line">
            <a:avLst/>
          </a:prstGeom>
          <a:noFill/>
          <a:ln w="19050">
            <a:solidFill>
              <a:srgbClr val="6B719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315468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3154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424160" y="2788920"/>
            <a:ext cx="0" cy="365760"/>
          </a:xfrm>
          <a:prstGeom prst="line">
            <a:avLst/>
          </a:prstGeom>
          <a:noFill/>
          <a:ln w="19050">
            <a:solidFill>
              <a:srgbClr val="6B719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0" y="315468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3154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402336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share the same memory (heap) but each has its own stack and execution path.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Multithreading?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262E5C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Responsiveness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UI responsive by offloading long-running work off the main thread.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8288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262E5C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5032" y="21031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3685032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85032" y="2788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85032" y="32461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multiple CPU cores in parallel to finish work faster.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262E5C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47104" y="21031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6547104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47104" y="2788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47104" y="32461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many simultaneous requests efficiently on servers.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34856" y="182880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262E5C"/>
          </a:solidFill>
          <a:ln w="12700">
            <a:solidFill>
              <a:srgbClr val="3A43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1031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9409176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409176" y="2788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09176" y="32461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I/O waits (disk, network, DB) with other useful work.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Thread Class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760720" cy="3840480"/>
          </a:xfrm>
          <a:prstGeom prst="roundRect">
            <a:avLst>
              <a:gd name="adj" fmla="val 2857"/>
            </a:avLst>
          </a:prstGeom>
          <a:solidFill>
            <a:srgbClr val="141936"/>
          </a:solidFill>
          <a:ln w="12700">
            <a:solidFill>
              <a:srgbClr val="3A43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64792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1764792"/>
            <a:ext cx="109728" cy="109728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764792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5740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FA3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System.Threading;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PrintNumbers()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5; i++)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Console.WriteLine(i);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t = new Thread(PrintNumbers);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t.IsBackground = true;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t.Start();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B71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t.Join();  // wait for completion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629400" y="169164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System.Threading.Thread wraps an OS-level thread directly.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 begins execution; Join() blocks until it finishes.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raw threads is expensive (~1MB stack each) and offers no built-in result or exception handling.</a:t>
            </a:r>
            <a:endParaRPr lang="en-US" sz="13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long-running, dedicated background work — rarely the first choice today.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Thread Pool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managed pool of reusable worker threads maintained by the .NET runtime.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the cost of creating/destroying threads for short-lived work.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grows and shrinks the pool automatically based on load.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Task, Parallel, and async/await under the hood.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0" y="1600200"/>
            <a:ext cx="5669280" cy="2743200"/>
          </a:xfrm>
          <a:prstGeom prst="roundRect">
            <a:avLst>
              <a:gd name="adj" fmla="val 4000"/>
            </a:avLst>
          </a:prstGeom>
          <a:solidFill>
            <a:srgbClr val="141936"/>
          </a:solidFill>
          <a:ln w="12700">
            <a:solidFill>
              <a:srgbClr val="3A43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0" y="1764792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6327648" y="1764792"/>
            <a:ext cx="109728" cy="109728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8" name="Shape 6"/>
          <p:cNvSpPr/>
          <p:nvPr/>
        </p:nvSpPr>
        <p:spPr>
          <a:xfrm>
            <a:off x="6528816" y="1764792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205740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ThreadPool.QueueUserWorkItem(state =&gt;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DoBackgroundWork();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452628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3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452628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Task / Task.Run over ThreadPool directly — Tasks give you results, exceptions, and composition.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CONCURRENCY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&amp; async / await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760720" cy="3840480"/>
          </a:xfrm>
          <a:prstGeom prst="roundRect">
            <a:avLst>
              <a:gd name="adj" fmla="val 2857"/>
            </a:avLst>
          </a:prstGeom>
          <a:solidFill>
            <a:srgbClr val="141936"/>
          </a:solidFill>
          <a:ln w="12700">
            <a:solidFill>
              <a:srgbClr val="3A43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64792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1764792"/>
            <a:ext cx="109728" cy="109728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764792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5740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Task&lt;string&gt; FetchDataAsync()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var client = new HttpClient();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result = await client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.GetStringAsync(url);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FA3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data = await FetchDataAsync();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Console.WriteLine(data);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629400" y="169164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represents an asynchronous operation — with a result, status, and exceptions.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/ await lets you write asynchronous code that reads like synchronous code.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frees the thread while waiting — ideal for I/O-bound work (network, disk, DB).</a:t>
            </a:r>
            <a:endParaRPr lang="en-US" sz="13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Task.Run() for CPU-bound work you want to push onto the thread pool.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threads read and write shared state at the same time, results become unpredictable — this is a race condition.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141936"/>
          </a:solidFill>
          <a:ln w="12700">
            <a:solidFill>
              <a:srgbClr val="3A438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496312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" y="2496312"/>
            <a:ext cx="109728" cy="109728"/>
          </a:xfrm>
          <a:prstGeom prst="ellipse">
            <a:avLst/>
          </a:prstGeom>
          <a:solidFill>
            <a:srgbClr val="F9E795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2496312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889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int _counter = 0;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readonly object _lock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new object();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7D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 (_lock)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_counter++;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237744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22860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(Monitor)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220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way to guard a critical section within one process.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324612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31546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34747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Cross-process synchronization; heavier than 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411480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4023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Semaphore(Slim)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4343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how many threads can access a resource at once.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498348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48920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Interlocked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52120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Lock-free atomic operations for simple counters.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Concurrent Collections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System.Collections.Concurrent provides collections designed for safe multi-threaded access without manual locking.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ConcurrentDictionary&lt;K,V&gt;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931920" y="21488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key/value store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21488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Caches, shared lookups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091672" cy="10973"/>
          </a:xfrm>
          <a:prstGeom prst="rect">
            <a:avLst/>
          </a:prstGeom>
          <a:solidFill>
            <a:srgbClr val="E6E9F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175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ConcurrentQueue&lt;T&gt;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301752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queue, lock-free enqueue/dequeue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30175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Producer/consumer pipelines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91672" cy="10973"/>
          </a:xfrm>
          <a:prstGeom prst="rect">
            <a:avLst/>
          </a:prstGeom>
          <a:solidFill>
            <a:srgbClr val="E6E9F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86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ConcurrentBag&lt;T&gt;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31920" y="3886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Unordered thread-safe collection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38862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Work-item pools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10973"/>
          </a:xfrm>
          <a:prstGeom prst="rect">
            <a:avLst/>
          </a:prstGeom>
          <a:solidFill>
            <a:srgbClr val="E6E9F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548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BlockingCollection&lt;T&gt;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31920" y="475488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queue that blocks when empty/full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producers &amp; consumers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Pitfalls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BFBFE"/>
          </a:solidFill>
          <a:ln w="12700">
            <a:solidFill>
              <a:srgbClr val="E6E9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FFF3EC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24028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threads wait forever on locks the other one holds.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BFBFE"/>
          </a:solidFill>
          <a:ln w="12700">
            <a:solidFill>
              <a:srgbClr val="E6E9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947672"/>
            <a:ext cx="457200" cy="457200"/>
          </a:xfrm>
          <a:prstGeom prst="ellipse">
            <a:avLst/>
          </a:prstGeom>
          <a:solidFill>
            <a:srgbClr val="FFF3EC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874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Unsynchronized access to shared state gives inconsistent results.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BFBFE"/>
          </a:solidFill>
          <a:ln w="12700">
            <a:solidFill>
              <a:srgbClr val="E6E9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85032"/>
            <a:ext cx="457200" cy="457200"/>
          </a:xfrm>
          <a:prstGeom prst="ellipse">
            <a:avLst/>
          </a:prstGeom>
          <a:solidFill>
            <a:srgbClr val="FFF3EC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3611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Starvation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97764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threads never get scheduled CPU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4290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BFBFE"/>
          </a:solidFill>
          <a:ln w="12700">
            <a:solidFill>
              <a:srgbClr val="E6E9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3685032"/>
            <a:ext cx="457200" cy="457200"/>
          </a:xfrm>
          <a:prstGeom prst="ellipse">
            <a:avLst/>
          </a:prstGeom>
          <a:solidFill>
            <a:srgbClr val="FFF3EC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611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Void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97764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Fire-and-forget async methods swallow exceptions.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70992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Task and async/await over raw Thread for almost all scenarios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50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ConfigureAwait(false) in library code to avoid context deadlocks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1638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3136392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locked sections as small as possible — minimize contention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770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849624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block on async code with .Result or .Wait() on the UI thread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90288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5902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4562856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CancellationToken to make long-running work cancellable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365760" cy="365760"/>
          </a:xfrm>
          <a:prstGeom prst="ellipse">
            <a:avLst/>
          </a:prstGeom>
          <a:solidFill>
            <a:srgbClr val="262E5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527608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immutable data and message-passing over shared mutable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54864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>
            <a:off x="8549640" y="137160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0" y="219456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8641080" y="301752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0" y="384048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0" y="59436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141732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224028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06324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3886200"/>
            <a:ext cx="2926080" cy="0"/>
          </a:xfrm>
          <a:prstGeom prst="line">
            <a:avLst/>
          </a:prstGeom>
          <a:noFill/>
          <a:ln w="19050">
            <a:solidFill>
              <a:srgbClr val="3A43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0632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· Tasks · async/await · Synchronization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2026-08-04T15:30:44Z</dcterms:created>
  <dcterms:modified xsi:type="dcterms:W3CDTF">2026-08-04T15:30:44Z</dcterms:modified>
</cp:coreProperties>
</file>